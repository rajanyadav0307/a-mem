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T-MEM: Temporal-aware Memory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Module 1 — Temporal relevance scoring over A-MEM (Xu et al., NeurIPS 2025)</a:t>
            </a:r>
          </a:p>
          <a:p>
            <a:r>
              <a:t>LoCoMo-style simulation • Self-contained demo (no LLM API)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Motivation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A-MEM retrieval ranks memories by cosine similarity only (paper Eq. 9).</a:t>
            </a:r>
          </a:p>
          <a:p>
            <a:pPr>
              <a:defRPr sz="1800"/>
            </a:pPr>
            <a:r>
              <a:t>No explicit temporal signal — strong on Temporal LoCoMo category but improvable.</a:t>
            </a:r>
          </a:p>
          <a:p>
            <a:pPr>
              <a:defRPr sz="1800"/>
            </a:pPr>
            <a:r>
              <a:t>T-MEM adds a decay / usage / link-structure relevance term blended with cosine.</a:t>
            </a:r>
          </a:p>
          <a:p>
            <a:pPr>
              <a:defRPr sz="1800"/>
            </a:pPr>
            <a:r>
              <a:t>Setting α = 1 recovers A-MEM exactly for baseline comparison.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/>
            </a:pPr>
            <a:r>
              <a:t>Memory note (A-MEM Eq. 1 + T-MEM)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Paper fields</a:t>
            </a:r>
          </a:p>
          <a:p>
            <a:pPr>
              <a:spcAft>
                <a:spcPts val="600"/>
              </a:spcAft>
              <a:defRPr sz="1400"/>
            </a:pPr>
            <a:r>
              <a:t>c — content</a:t>
            </a:r>
          </a:p>
          <a:p>
            <a:pPr>
              <a:spcAft>
                <a:spcPts val="600"/>
              </a:spcAft>
              <a:defRPr sz="1400"/>
            </a:pPr>
            <a:r>
              <a:t>t — timestamp</a:t>
            </a:r>
          </a:p>
          <a:p>
            <a:pPr>
              <a:spcAft>
                <a:spcPts val="600"/>
              </a:spcAft>
              <a:defRPr sz="1400"/>
            </a:pPr>
            <a:r>
              <a:t>K — keywords</a:t>
            </a:r>
          </a:p>
          <a:p>
            <a:pPr>
              <a:spcAft>
                <a:spcPts val="600"/>
              </a:spcAft>
              <a:defRPr sz="1400"/>
            </a:pPr>
            <a:r>
              <a:t>G — tags</a:t>
            </a:r>
          </a:p>
          <a:p>
            <a:pPr>
              <a:spcAft>
                <a:spcPts val="600"/>
              </a:spcAft>
              <a:defRPr sz="1400"/>
            </a:pPr>
            <a:r>
              <a:t>X — contextual sentence</a:t>
            </a:r>
          </a:p>
          <a:p>
            <a:pPr>
              <a:spcAft>
                <a:spcPts val="600"/>
              </a:spcAft>
              <a:defRPr sz="1400"/>
            </a:pPr>
            <a:r>
              <a:t>e — embedding of concat(c,K,G,X)</a:t>
            </a:r>
          </a:p>
          <a:p>
            <a:pPr>
              <a:spcAft>
                <a:spcPts val="600"/>
              </a:spcAft>
              <a:defRPr sz="1400"/>
            </a:pPr>
            <a:r>
              <a:t>L — linked note IDs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63440" y="1005840"/>
            <a:ext cx="40233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/>
            </a:pPr>
            <a:r>
              <a:t>T-MEM extensions</a:t>
            </a:r>
          </a:p>
          <a:p>
            <a:pPr>
              <a:spcAft>
                <a:spcPts val="600"/>
              </a:spcAft>
              <a:defRPr sz="1400"/>
            </a:pPr>
            <a:r>
              <a:t>access_count — retrieval hits</a:t>
            </a:r>
          </a:p>
          <a:p>
            <a:pPr>
              <a:spcAft>
                <a:spcPts val="600"/>
              </a:spcAft>
              <a:defRPr sz="1400"/>
            </a:pPr>
            <a:r>
              <a:t>last_accessed — bookkeeping</a:t>
            </a:r>
          </a:p>
          <a:p>
            <a:pPr>
              <a:spcAft>
                <a:spcPts val="600"/>
              </a:spcAft>
              <a:defRPr sz="1400"/>
            </a:pPr>
            <a:r>
              <a:t>relevance_score — optional cache</a:t>
            </a:r>
          </a:p>
          <a:p>
            <a:pPr>
              <a:spcAft>
                <a:spcPts val="600"/>
              </a:spcAft>
              <a:defRPr sz="1400"/>
            </a:pPr>
            <a:r>
              <a:t>Links simulated: cosine &gt; 0.5 on e (LLM linking proxy)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804672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/>
            </a:pPr>
            <a:r>
              <a:t>Temporal relevance and retrieval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80467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latin typeface="Courier New"/>
              </a:defRPr>
            </a:pPr>
            <a:r>
              <a:t>r_i = decay(m_i) × reinforce(m_i) × link_bonus(m_i)</a:t>
            </a:r>
          </a:p>
          <a:p>
            <a:pPr>
              <a:spcAft>
                <a:spcPts val="1000"/>
              </a:spcAft>
              <a:defRPr sz="1700">
                <a:latin typeface="Courier New"/>
              </a:defRPr>
            </a:pPr>
          </a:p>
          <a:p>
            <a:pPr>
              <a:spcAft>
                <a:spcPts val="1000"/>
              </a:spcAft>
              <a:defRPr sz="1700">
                <a:latin typeface="Courier New"/>
              </a:defRPr>
            </a:pPr>
            <a:r>
              <a:t>decay     = exp(−λ × age)     [age = month-equivalents: elapsed days / 30]</a:t>
            </a:r>
          </a:p>
          <a:p>
            <a:pPr>
              <a:spcAft>
                <a:spcPts val="1000"/>
              </a:spcAft>
              <a:defRPr sz="1700">
                <a:latin typeface="Courier New"/>
              </a:defRPr>
            </a:pPr>
            <a:r>
              <a:t>reinforce = 1 + β × log(1 + access_count)</a:t>
            </a:r>
          </a:p>
          <a:p>
            <a:pPr>
              <a:spcAft>
                <a:spcPts val="1000"/>
              </a:spcAft>
              <a:defRPr sz="1700">
                <a:latin typeface="Courier New"/>
              </a:defRPr>
            </a:pPr>
            <a:r>
              <a:t>link_bonus = 1 + γ × (|L_i| / max_j |L_j|)</a:t>
            </a:r>
          </a:p>
          <a:p>
            <a:pPr>
              <a:spcAft>
                <a:spcPts val="1000"/>
              </a:spcAft>
              <a:defRPr sz="1700">
                <a:latin typeface="Courier New"/>
              </a:defRPr>
            </a:pPr>
          </a:p>
          <a:p>
            <a:pPr>
              <a:spcAft>
                <a:spcPts val="1000"/>
              </a:spcAft>
              <a:defRPr sz="1700">
                <a:latin typeface="Courier New"/>
              </a:defRPr>
            </a:pPr>
            <a:r>
              <a:t>score(q, m_i) = α × cos(e_q, e_i) + (1 − α) × r̂_i</a:t>
            </a:r>
          </a:p>
          <a:p>
            <a:pPr>
              <a:spcAft>
                <a:spcPts val="1000"/>
              </a:spcAft>
              <a:defRPr sz="1700">
                <a:latin typeface="Courier New"/>
              </a:defRPr>
            </a:pPr>
            <a:r>
              <a:t>r̂_i = min-max normalize r_i over all memories M</a:t>
            </a:r>
          </a:p>
          <a:p>
            <a:pPr>
              <a:spcAft>
                <a:spcPts val="1000"/>
              </a:spcAft>
              <a:defRPr sz="1700">
                <a:latin typeface="Courier New"/>
              </a:defRPr>
            </a:pPr>
          </a:p>
          <a:p>
            <a:pPr>
              <a:spcAft>
                <a:spcPts val="1000"/>
              </a:spcAft>
              <a:defRPr sz="1700">
                <a:latin typeface="Courier New"/>
              </a:defRPr>
            </a:pPr>
            <a:r>
              <a:t>Defaults: λ=0.1, β=0.5, γ=0.3, α=0.7 • Encoder: all-MiniLM-L6-v2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Simulation (thesis demo)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~30 memory notes across 10 sessions (weeks–months timeline).</a:t>
            </a:r>
          </a:p>
          <a:p>
            <a:pPr>
              <a:defRPr sz="1800"/>
            </a:pPr>
            <a:r>
              <a:t>Scenarios: job change (Google→Meta), relocation (NYC→Seattle), photography hobby, Japan trip, contradictions.</a:t>
            </a:r>
          </a:p>
          <a:p>
            <a:pPr>
              <a:defRPr sz="1800"/>
            </a:pPr>
            <a:r>
              <a:t>Photography notes get higher access_count (spacing / reinforcement).</a:t>
            </a:r>
          </a:p>
          <a:p>
            <a:pPr>
              <a:defRPr sz="1800"/>
            </a:pPr>
            <a:r>
              <a:t>7 evaluation queries across temporal, multi-hop, adversarial, single-hop, open-domain.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/>
            </a:pPr>
            <a:r>
              <a:t>Results: ground-truth rank (lower is better)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20040" y="914400"/>
          <a:ext cx="850392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0784"/>
                <a:gridCol w="1700784"/>
                <a:gridCol w="1700784"/>
                <a:gridCol w="1700784"/>
                <a:gridCol w="1700784"/>
              </a:tblGrid>
              <a:tr h="342900"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Query (trunc.)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A-MEM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T-MEM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b="1" sz="1100"/>
                      </a:pPr>
                      <a:r>
                        <a:t>vs A-MEM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Where does Alice currently work?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improved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temporal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Where does Alice live now?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improved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multi_hop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What hobby did Alice pick up after she mov…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improved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adversarial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Does Alice still work at Google?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improved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adversarial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Is Alice still living in NYC?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improved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single_hop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What camera does Alice use?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improved</a:t>
                      </a:r>
                    </a:p>
                  </a:txBody>
                  <a:tcPr/>
                </a:tc>
              </a:tr>
              <a:tr h="342900"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open_domain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What did Alice and Bob plan to do in Japan…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00"/>
                      </a:pPr>
                      <a:r>
                        <a:t>same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Aggregate (this run)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T-MEM improved correct-answer best rank on 6 / 7 queries; 1 tie; 0 worse.</a:t>
            </a:r>
          </a:p>
          <a:p>
            <a:pPr>
              <a:defRPr sz="1800"/>
            </a:pPr>
            <a:r>
              <a:t>Mean rank delta (A-MEM rank − T-MEM rank): ≈ 2.3 positions.</a:t>
            </a:r>
          </a:p>
          <a:p>
            <a:pPr>
              <a:defRPr sz="1800"/>
            </a:pPr>
            <a:r>
              <a:t>Per-category @1/@3 accuracy: see chart + summary_stats.txt in presentation folder.</a:t>
            </a:r>
          </a:p>
          <a:p>
            <a:pPr>
              <a:defRPr sz="1800"/>
            </a:pPr>
            <a:r>
              <a:t>Re-run with real MiniLM (omit TMEM_ALLOW_HASH_ENCODER) for paper-aligned embeddings.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Retrieval accuracy by category</a:t>
            </a:r>
          </a:p>
        </p:txBody>
      </p:sp>
      <p:pic>
        <p:nvPicPr>
          <p:cNvPr id="3" name="Picture 2" descr="retrieval_accura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9654947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Score breakdown: “Where does Alice currently work?”</a:t>
            </a:r>
          </a:p>
        </p:txBody>
      </p:sp>
      <p:pic>
        <p:nvPicPr>
          <p:cNvPr id="3" name="Picture 2" descr="score_breakdow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9640031" cy="475488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/>
            </a:pPr>
            <a:r>
              <a:t>Decay, reinforcement, and link scenarios (illustrative)</a:t>
            </a:r>
          </a:p>
        </p:txBody>
      </p:sp>
      <p:pic>
        <p:nvPicPr>
          <p:cNvPr id="3" name="Picture 2" descr="decay_curv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868680"/>
            <a:ext cx="8071849" cy="448056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Takeaways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T-MEM is a controlled extension: same note pipeline, modified ranking only.</a:t>
            </a:r>
          </a:p>
          <a:p>
            <a:pPr>
              <a:defRPr sz="1800"/>
            </a:pPr>
            <a:r>
              <a:t>Decay uses month-equivalent age so λ stays meaningful over long corpora — document in thesis.</a:t>
            </a:r>
          </a:p>
          <a:p>
            <a:pPr>
              <a:defRPr sz="1800"/>
            </a:pPr>
            <a:r>
              <a:t>Global r̂ can favor high-access topics; tune β / access simulation for your data.</a:t>
            </a:r>
          </a:p>
          <a:p>
            <a:pPr>
              <a:defRPr sz="1800"/>
            </a:pPr>
            <a:r>
              <a:t>Baseline retrieval is full-memory cosine (Eq. 9), not Chroma neighbor expansion from A-mem-sys.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